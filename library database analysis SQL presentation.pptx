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60" r:id="rId4"/>
    <p:sldId id="271" r:id="rId5"/>
    <p:sldId id="264" r:id="rId6"/>
    <p:sldId id="263" r:id="rId7"/>
    <p:sldId id="262" r:id="rId8"/>
    <p:sldId id="261" r:id="rId9"/>
    <p:sldId id="266" r:id="rId10"/>
    <p:sldId id="265" r:id="rId11"/>
    <p:sldId id="267" r:id="rId12"/>
    <p:sldId id="268" r:id="rId13"/>
    <p:sldId id="269" r:id="rId14"/>
    <p:sldId id="270" r:id="rId15"/>
    <p:sldId id="273" r:id="rId16"/>
    <p:sldId id="272" r:id="rId17"/>
    <p:sldId id="258" r:id="rId18"/>
    <p:sldId id="259" r:id="rId19"/>
  </p:sldIdLst>
  <p:sldSz cx="12192000" cy="6858000"/>
  <p:notesSz cx="6858000" cy="9144000"/>
  <p:embeddedFontLst>
    <p:embeddedFont>
      <p:font typeface="Libre Baskerville" panose="020000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41" autoAdjust="0"/>
  </p:normalViewPr>
  <p:slideViewPr>
    <p:cSldViewPr snapToGrid="0">
      <p:cViewPr varScale="1">
        <p:scale>
          <a:sx n="78" d="100"/>
          <a:sy n="78" d="100"/>
        </p:scale>
        <p:origin x="869"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021"/>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44429"/>
            <a:ext cx="12190815" cy="6694098"/>
          </a:xfrm>
          <a:prstGeom prst="rect">
            <a:avLst/>
          </a:prstGeom>
          <a:noFill/>
          <a:ln>
            <a:noFill/>
          </a:ln>
        </p:spPr>
      </p:pic>
      <p:sp>
        <p:nvSpPr>
          <p:cNvPr id="99" name="Google Shape;99;p1"/>
          <p:cNvSpPr txBox="1"/>
          <p:nvPr/>
        </p:nvSpPr>
        <p:spPr>
          <a:xfrm>
            <a:off x="2472904" y="3717986"/>
            <a:ext cx="7246189" cy="923289"/>
          </a:xfrm>
          <a:prstGeom prst="rect">
            <a:avLst/>
          </a:prstGeom>
          <a:noFill/>
          <a:ln>
            <a:noFill/>
          </a:ln>
        </p:spPr>
        <p:txBody>
          <a:bodyPr spcFirstLastPara="1" wrap="square" lIns="91425" tIns="45700" rIns="91425" bIns="45700" anchor="t" anchorCtr="0">
            <a:spAutoFit/>
          </a:bodyPr>
          <a:lstStyle/>
          <a:p>
            <a:pPr lvl="0" algn="ctr">
              <a:buSzPts val="1800"/>
            </a:pPr>
            <a:br>
              <a:rPr lang="en-IN" sz="1800" b="0" i="0" u="none" strike="noStrike" cap="none" dirty="0">
                <a:solidFill>
                  <a:schemeClr val="dk1"/>
                </a:solidFill>
                <a:latin typeface="Calibri"/>
                <a:ea typeface="Calibri"/>
                <a:cs typeface="Calibri"/>
                <a:sym typeface="Calibri"/>
              </a:rPr>
            </a:br>
            <a:r>
              <a:rPr lang="en-IN" sz="3600" b="1" u="sng" dirty="0"/>
              <a:t>Library Database Analysis</a:t>
            </a:r>
            <a:endParaRPr sz="36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0A517D4E-6C05-6C7E-B216-AF690E16AD85}"/>
              </a:ext>
            </a:extLst>
          </p:cNvPr>
          <p:cNvSpPr txBox="1"/>
          <p:nvPr/>
        </p:nvSpPr>
        <p:spPr>
          <a:xfrm>
            <a:off x="442732" y="4641275"/>
            <a:ext cx="3191719" cy="707886"/>
          </a:xfrm>
          <a:prstGeom prst="rect">
            <a:avLst/>
          </a:prstGeom>
          <a:noFill/>
        </p:spPr>
        <p:txBody>
          <a:bodyPr wrap="square">
            <a:spAutoFit/>
          </a:bodyPr>
          <a:lstStyle/>
          <a:p>
            <a:pPr algn="just"/>
            <a:endParaRPr lang="en-IN" sz="2000" b="1" dirty="0"/>
          </a:p>
          <a:p>
            <a:pPr algn="just"/>
            <a:endParaRPr lang="en-IN" sz="20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4109884" y="738431"/>
            <a:ext cx="3352800" cy="633979"/>
          </a:xfrm>
          <a:prstGeom prst="rect">
            <a:avLst/>
          </a:prstGeom>
          <a:noFill/>
          <a:ln>
            <a:noFill/>
          </a:ln>
        </p:spPr>
        <p:txBody>
          <a:bodyPr spcFirstLastPara="1" wrap="square" lIns="91425" tIns="45700" rIns="91425" bIns="45700" anchor="t" anchorCtr="0">
            <a:spAutoFit/>
          </a:bodyPr>
          <a:lstStyle/>
          <a:p>
            <a:pPr lvl="2" algn="ctr">
              <a:lnSpc>
                <a:spcPct val="80000"/>
              </a:lnSpc>
              <a:buClr>
                <a:srgbClr val="FF0000"/>
              </a:buClr>
              <a:buSzPts val="3200"/>
            </a:pPr>
            <a:r>
              <a:rPr lang="en-IN" sz="4400" b="1" dirty="0">
                <a:solidFill>
                  <a:srgbClr val="FF0000"/>
                </a:solidFill>
                <a:latin typeface="Calibri"/>
                <a:ea typeface="Calibri"/>
                <a:cs typeface="Calibri"/>
                <a:sym typeface="Calibri"/>
              </a:rPr>
              <a:t>Introduction</a:t>
            </a:r>
            <a:endParaRPr sz="4400" b="1" i="0" u="none" strike="noStrike" cap="none" dirty="0">
              <a:solidFill>
                <a:srgbClr val="FF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44697A37-15B5-ABDE-F345-2192C4EEB3F8}"/>
              </a:ext>
            </a:extLst>
          </p:cNvPr>
          <p:cNvSpPr txBox="1"/>
          <p:nvPr/>
        </p:nvSpPr>
        <p:spPr>
          <a:xfrm>
            <a:off x="589935" y="1868130"/>
            <a:ext cx="11248104" cy="2862322"/>
          </a:xfrm>
          <a:prstGeom prst="rect">
            <a:avLst/>
          </a:prstGeom>
          <a:noFill/>
        </p:spPr>
        <p:txBody>
          <a:bodyPr wrap="square">
            <a:spAutoFit/>
          </a:bodyPr>
          <a:lstStyle/>
          <a:p>
            <a:pPr algn="just">
              <a:buNone/>
            </a:pPr>
            <a:r>
              <a:rPr lang="en-US" sz="1800" dirty="0">
                <a:latin typeface="+mn-lt"/>
                <a:ea typeface="Calibri" panose="020F0502020204030204" pitchFamily="34" charset="0"/>
                <a:cs typeface="Calibri" panose="020F0502020204030204" pitchFamily="34" charset="0"/>
              </a:rPr>
              <a:t>Nowadays, managing data is very important, especially in places like libraries. A library has many books, authors, and borrowers, and handling all this data manually is difficult and can lead to mistakes.</a:t>
            </a:r>
          </a:p>
          <a:p>
            <a:pPr algn="just">
              <a:buNone/>
            </a:pPr>
            <a:endParaRPr lang="en-US" sz="1800" dirty="0">
              <a:latin typeface="+mn-lt"/>
              <a:ea typeface="Calibri" panose="020F0502020204030204" pitchFamily="34" charset="0"/>
              <a:cs typeface="Calibri" panose="020F0502020204030204" pitchFamily="34" charset="0"/>
            </a:endParaRPr>
          </a:p>
          <a:p>
            <a:pPr algn="just">
              <a:buNone/>
            </a:pPr>
            <a:r>
              <a:rPr lang="en-US" sz="1800" dirty="0">
                <a:latin typeface="+mn-lt"/>
                <a:ea typeface="Calibri" panose="020F0502020204030204" pitchFamily="34" charset="0"/>
                <a:cs typeface="Calibri" panose="020F0502020204030204" pitchFamily="34" charset="0"/>
              </a:rPr>
              <a:t>So, in this project, we created a Library Database using SQL. This database helps to store and manage all the information in an organized way. We created different tables like books, authors, borrowers, branches, and book loans, and connected them using relationships.</a:t>
            </a:r>
          </a:p>
          <a:p>
            <a:pPr algn="just">
              <a:buNone/>
            </a:pPr>
            <a:endParaRPr lang="en-US" sz="1800" dirty="0">
              <a:latin typeface="+mn-lt"/>
              <a:ea typeface="Calibri" panose="020F0502020204030204" pitchFamily="34" charset="0"/>
              <a:cs typeface="Calibri" panose="020F0502020204030204" pitchFamily="34" charset="0"/>
            </a:endParaRPr>
          </a:p>
          <a:p>
            <a:pPr algn="just">
              <a:buNone/>
            </a:pPr>
            <a:r>
              <a:rPr lang="en-US" sz="1800" dirty="0">
                <a:latin typeface="+mn-lt"/>
                <a:ea typeface="Calibri" panose="020F0502020204030204" pitchFamily="34" charset="0"/>
                <a:cs typeface="Calibri" panose="020F0502020204030204" pitchFamily="34" charset="0"/>
              </a:rPr>
              <a:t>By using SQL queries, we can easily find useful information such as how many books are available, who borrowed books, and from which branch. This project shows how databases make work easier, faster, and more accurate.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8B33BE-CF74-75F0-1636-F9E186CF7470}"/>
              </a:ext>
            </a:extLst>
          </p:cNvPr>
          <p:cNvSpPr txBox="1"/>
          <p:nvPr/>
        </p:nvSpPr>
        <p:spPr>
          <a:xfrm>
            <a:off x="3533403" y="565870"/>
            <a:ext cx="6096000" cy="769441"/>
          </a:xfrm>
          <a:prstGeom prst="rect">
            <a:avLst/>
          </a:prstGeom>
          <a:noFill/>
        </p:spPr>
        <p:txBody>
          <a:bodyPr wrap="square">
            <a:spAutoFit/>
          </a:bodyPr>
          <a:lstStyle/>
          <a:p>
            <a:pPr algn="just"/>
            <a:r>
              <a:rPr lang="en-IN" sz="4400" b="1" dirty="0">
                <a:solidFill>
                  <a:srgbClr val="FF0000"/>
                </a:solidFill>
                <a:latin typeface="Calibri" panose="020F0502020204030204" pitchFamily="34" charset="0"/>
                <a:ea typeface="Calibri" panose="020F0502020204030204" pitchFamily="34" charset="0"/>
                <a:cs typeface="Calibri" panose="020F0502020204030204" pitchFamily="34" charset="0"/>
              </a:rPr>
              <a:t>Problem Statement</a:t>
            </a:r>
          </a:p>
        </p:txBody>
      </p:sp>
      <p:sp>
        <p:nvSpPr>
          <p:cNvPr id="5" name="TextBox 4">
            <a:extLst>
              <a:ext uri="{FF2B5EF4-FFF2-40B4-BE49-F238E27FC236}">
                <a16:creationId xmlns:a16="http://schemas.microsoft.com/office/drawing/2014/main" id="{00BEE7AA-BA14-3338-E942-EFA3BF0D7771}"/>
              </a:ext>
            </a:extLst>
          </p:cNvPr>
          <p:cNvSpPr txBox="1"/>
          <p:nvPr/>
        </p:nvSpPr>
        <p:spPr>
          <a:xfrm>
            <a:off x="1120878" y="1612401"/>
            <a:ext cx="10078064" cy="3970318"/>
          </a:xfrm>
          <a:prstGeom prst="rect">
            <a:avLst/>
          </a:prstGeom>
          <a:noFill/>
        </p:spPr>
        <p:txBody>
          <a:bodyPr wrap="square">
            <a:spAutoFit/>
          </a:bodyPr>
          <a:lstStyle/>
          <a:p>
            <a:pPr algn="just">
              <a:buNone/>
            </a:pPr>
            <a:r>
              <a:rPr lang="en-US" sz="1800" dirty="0">
                <a:latin typeface="+mn-lt"/>
              </a:rPr>
              <a:t>In many libraries, data is not managed properly. If we store data manually or in an unorganized way, it becomes hard to find information and may lead to errors like duplicate data or missing records.</a:t>
            </a:r>
          </a:p>
          <a:p>
            <a:pPr algn="just">
              <a:buNone/>
            </a:pPr>
            <a:endParaRPr lang="en-US" sz="1800" dirty="0">
              <a:latin typeface="+mn-lt"/>
            </a:endParaRPr>
          </a:p>
          <a:p>
            <a:pPr algn="just">
              <a:buNone/>
            </a:pPr>
            <a:r>
              <a:rPr lang="en-US" sz="1800" dirty="0">
                <a:latin typeface="+mn-lt"/>
              </a:rPr>
              <a:t>The main problem is how to store and manage library data in a better and organized way.</a:t>
            </a:r>
          </a:p>
          <a:p>
            <a:pPr algn="just">
              <a:buNone/>
            </a:pPr>
            <a:endParaRPr lang="en-US" sz="1800" dirty="0">
              <a:latin typeface="+mn-lt"/>
            </a:endParaRPr>
          </a:p>
          <a:p>
            <a:pPr algn="just">
              <a:buNone/>
            </a:pPr>
            <a:r>
              <a:rPr lang="en-US" sz="1800" u="sng" dirty="0">
                <a:latin typeface="+mn-lt"/>
              </a:rPr>
              <a:t>This project solves the problem by:</a:t>
            </a:r>
          </a:p>
          <a:p>
            <a:pPr algn="just">
              <a:buFont typeface="Arial" panose="020B0604020202020204" pitchFamily="34" charset="0"/>
              <a:buChar char="•"/>
            </a:pPr>
            <a:endParaRPr lang="en-US" sz="1800" dirty="0">
              <a:latin typeface="+mn-lt"/>
            </a:endParaRPr>
          </a:p>
          <a:p>
            <a:pPr algn="just">
              <a:buFont typeface="Arial" panose="020B0604020202020204" pitchFamily="34" charset="0"/>
              <a:buChar char="•"/>
            </a:pPr>
            <a:r>
              <a:rPr lang="en-US" sz="1800" dirty="0">
                <a:latin typeface="+mn-lt"/>
              </a:rPr>
              <a:t> Storing data in tables (like books, borrowers, etc.)</a:t>
            </a:r>
          </a:p>
          <a:p>
            <a:pPr algn="just">
              <a:buFont typeface="Arial" panose="020B0604020202020204" pitchFamily="34" charset="0"/>
              <a:buChar char="•"/>
            </a:pPr>
            <a:r>
              <a:rPr lang="en-US" sz="1800" dirty="0">
                <a:latin typeface="+mn-lt"/>
              </a:rPr>
              <a:t> Connecting the tables using relationships</a:t>
            </a:r>
          </a:p>
          <a:p>
            <a:pPr algn="just">
              <a:buFont typeface="Arial" panose="020B0604020202020204" pitchFamily="34" charset="0"/>
              <a:buChar char="•"/>
            </a:pPr>
            <a:r>
              <a:rPr lang="en-US" sz="1800" dirty="0">
                <a:latin typeface="+mn-lt"/>
              </a:rPr>
              <a:t> Making it easy to search and get information using SQL queries</a:t>
            </a:r>
          </a:p>
          <a:p>
            <a:pPr algn="just">
              <a:buFont typeface="Arial" panose="020B0604020202020204" pitchFamily="34" charset="0"/>
              <a:buChar char="•"/>
            </a:pPr>
            <a:r>
              <a:rPr lang="en-US" sz="1800" dirty="0">
                <a:latin typeface="+mn-lt"/>
              </a:rPr>
              <a:t> Reducing errors and avoiding duplicate data</a:t>
            </a:r>
          </a:p>
          <a:p>
            <a:pPr algn="just">
              <a:buNone/>
            </a:pPr>
            <a:endParaRPr lang="en-US" sz="1800" dirty="0">
              <a:latin typeface="+mn-lt"/>
            </a:endParaRPr>
          </a:p>
          <a:p>
            <a:pPr algn="just">
              <a:buNone/>
            </a:pPr>
            <a:r>
              <a:rPr lang="en-US" sz="1800" dirty="0">
                <a:latin typeface="+mn-lt"/>
              </a:rPr>
              <a:t>So, this system helps the library to work more efficiently and manage data properly.</a:t>
            </a:r>
          </a:p>
        </p:txBody>
      </p:sp>
    </p:spTree>
    <p:extLst>
      <p:ext uri="{BB962C8B-B14F-4D97-AF65-F5344CB8AC3E}">
        <p14:creationId xmlns:p14="http://schemas.microsoft.com/office/powerpoint/2010/main" val="3280093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DA2ECD-BF8B-C9A9-7BD0-68FC4491FFCA}"/>
              </a:ext>
            </a:extLst>
          </p:cNvPr>
          <p:cNvSpPr txBox="1"/>
          <p:nvPr/>
        </p:nvSpPr>
        <p:spPr>
          <a:xfrm>
            <a:off x="816077" y="1743230"/>
            <a:ext cx="10284542" cy="3441968"/>
          </a:xfrm>
          <a:prstGeom prst="rect">
            <a:avLst/>
          </a:prstGeom>
          <a:noFill/>
        </p:spPr>
        <p:txBody>
          <a:bodyPr wrap="square">
            <a:spAutoFit/>
          </a:bodyPr>
          <a:lstStyle/>
          <a:p>
            <a:pPr>
              <a:buNone/>
            </a:pPr>
            <a:endParaRPr lang="en-US" b="1" dirty="0"/>
          </a:p>
          <a:p>
            <a:pPr algn="just"/>
            <a:r>
              <a:rPr lang="en-US" sz="1800" dirty="0">
                <a:latin typeface="+mn-lt"/>
              </a:rPr>
              <a:t>The main objective of this project is to create a Library Database using SQL to store and manage data in an organized way.</a:t>
            </a:r>
          </a:p>
          <a:p>
            <a:endParaRPr lang="en-US" sz="1800" dirty="0">
              <a:latin typeface="+mn-lt"/>
            </a:endParaRPr>
          </a:p>
          <a:p>
            <a:r>
              <a:rPr lang="en-US" sz="1800" dirty="0">
                <a:latin typeface="+mn-lt"/>
              </a:rPr>
              <a:t>It also aims to establish relationships between tables using primary and foreign keys for easy data retrieval.</a:t>
            </a:r>
          </a:p>
          <a:p>
            <a:endParaRPr lang="en-US" sz="1800" dirty="0">
              <a:latin typeface="+mn-lt"/>
            </a:endParaRPr>
          </a:p>
          <a:p>
            <a:r>
              <a:rPr lang="en-US" sz="1800" dirty="0">
                <a:latin typeface="+mn-lt"/>
              </a:rPr>
              <a:t>Another goal is to reduce errors and duplication in data by using a structured system instead of manual methods.</a:t>
            </a:r>
          </a:p>
          <a:p>
            <a:endParaRPr lang="en-US" sz="1800" dirty="0">
              <a:latin typeface="+mn-lt"/>
            </a:endParaRPr>
          </a:p>
          <a:p>
            <a:r>
              <a:rPr lang="en-US" sz="1800" dirty="0">
                <a:latin typeface="+mn-lt"/>
              </a:rPr>
              <a:t>Overall, this project helps to make library management simple, efficient, and accurate</a:t>
            </a:r>
          </a:p>
          <a:p>
            <a:pPr algn="just">
              <a:lnSpc>
                <a:spcPct val="150000"/>
              </a:lnSpc>
              <a:buFont typeface="Arial" panose="020B0604020202020204" pitchFamily="34" charset="0"/>
              <a:buChar char="•"/>
            </a:pPr>
            <a:endParaRPr lang="en-US" sz="1800" dirty="0">
              <a:latin typeface="+mn-lt"/>
            </a:endParaRPr>
          </a:p>
        </p:txBody>
      </p:sp>
      <p:sp>
        <p:nvSpPr>
          <p:cNvPr id="4" name="TextBox 3">
            <a:extLst>
              <a:ext uri="{FF2B5EF4-FFF2-40B4-BE49-F238E27FC236}">
                <a16:creationId xmlns:a16="http://schemas.microsoft.com/office/drawing/2014/main" id="{8F31C1B2-5EEA-5928-4FFB-E8852AB0585D}"/>
              </a:ext>
            </a:extLst>
          </p:cNvPr>
          <p:cNvSpPr txBox="1"/>
          <p:nvPr/>
        </p:nvSpPr>
        <p:spPr>
          <a:xfrm>
            <a:off x="4208429" y="688258"/>
            <a:ext cx="3041217" cy="769441"/>
          </a:xfrm>
          <a:prstGeom prst="rect">
            <a:avLst/>
          </a:prstGeom>
          <a:noFill/>
        </p:spPr>
        <p:txBody>
          <a:bodyPr wrap="none" rtlCol="0">
            <a:spAutoFit/>
          </a:bodyPr>
          <a:lstStyle/>
          <a:p>
            <a:pPr algn="just"/>
            <a:r>
              <a:rPr lang="en-US" sz="4400" b="1" dirty="0">
                <a:solidFill>
                  <a:srgbClr val="FF0000"/>
                </a:solidFill>
              </a:rPr>
              <a:t>Objectives</a:t>
            </a:r>
            <a:endParaRPr lang="en-IN" sz="4400" b="1" dirty="0">
              <a:solidFill>
                <a:srgbClr val="FF0000"/>
              </a:solidFill>
            </a:endParaRPr>
          </a:p>
        </p:txBody>
      </p:sp>
    </p:spTree>
    <p:extLst>
      <p:ext uri="{BB962C8B-B14F-4D97-AF65-F5344CB8AC3E}">
        <p14:creationId xmlns:p14="http://schemas.microsoft.com/office/powerpoint/2010/main" val="1374019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AA88EE3-C025-4D34-BD09-E1A006D56176}"/>
              </a:ext>
            </a:extLst>
          </p:cNvPr>
          <p:cNvPicPr>
            <a:picLocks noChangeAspect="1"/>
          </p:cNvPicPr>
          <p:nvPr/>
        </p:nvPicPr>
        <p:blipFill>
          <a:blip r:embed="rId2"/>
          <a:stretch>
            <a:fillRect/>
          </a:stretch>
        </p:blipFill>
        <p:spPr>
          <a:xfrm>
            <a:off x="6096000" y="1379846"/>
            <a:ext cx="4772691" cy="1305107"/>
          </a:xfrm>
          <a:prstGeom prst="rect">
            <a:avLst/>
          </a:prstGeom>
        </p:spPr>
      </p:pic>
      <p:sp>
        <p:nvSpPr>
          <p:cNvPr id="9" name="TextBox 8">
            <a:extLst>
              <a:ext uri="{FF2B5EF4-FFF2-40B4-BE49-F238E27FC236}">
                <a16:creationId xmlns:a16="http://schemas.microsoft.com/office/drawing/2014/main" id="{09FA73AF-B6F2-961D-23D0-49BB9B4E9DE1}"/>
              </a:ext>
            </a:extLst>
          </p:cNvPr>
          <p:cNvSpPr txBox="1"/>
          <p:nvPr/>
        </p:nvSpPr>
        <p:spPr>
          <a:xfrm>
            <a:off x="1905966" y="637282"/>
            <a:ext cx="2291787" cy="584775"/>
          </a:xfrm>
          <a:prstGeom prst="rect">
            <a:avLst/>
          </a:prstGeom>
          <a:noFill/>
        </p:spPr>
        <p:txBody>
          <a:bodyPr wrap="square" rtlCol="0">
            <a:spAutoFit/>
          </a:bodyPr>
          <a:lstStyle/>
          <a:p>
            <a:pPr algn="just"/>
            <a:r>
              <a:rPr lang="en-US" sz="3200" b="1" dirty="0"/>
              <a:t>Publisher</a:t>
            </a:r>
            <a:endParaRPr lang="en-IN" sz="3200" b="1" dirty="0"/>
          </a:p>
        </p:txBody>
      </p:sp>
      <p:sp>
        <p:nvSpPr>
          <p:cNvPr id="11" name="TextBox 10">
            <a:extLst>
              <a:ext uri="{FF2B5EF4-FFF2-40B4-BE49-F238E27FC236}">
                <a16:creationId xmlns:a16="http://schemas.microsoft.com/office/drawing/2014/main" id="{518EE1CD-61B2-E5D0-B899-5125C3788323}"/>
              </a:ext>
            </a:extLst>
          </p:cNvPr>
          <p:cNvSpPr txBox="1"/>
          <p:nvPr/>
        </p:nvSpPr>
        <p:spPr>
          <a:xfrm>
            <a:off x="7607462" y="682508"/>
            <a:ext cx="6094070" cy="584775"/>
          </a:xfrm>
          <a:prstGeom prst="rect">
            <a:avLst/>
          </a:prstGeom>
          <a:noFill/>
        </p:spPr>
        <p:txBody>
          <a:bodyPr wrap="square">
            <a:spAutoFit/>
          </a:bodyPr>
          <a:lstStyle/>
          <a:p>
            <a:pPr algn="just"/>
            <a:r>
              <a:rPr lang="en-US" sz="3200" b="1" dirty="0"/>
              <a:t>Author</a:t>
            </a:r>
            <a:endParaRPr lang="en-IN" sz="3200" b="1" dirty="0"/>
          </a:p>
        </p:txBody>
      </p:sp>
      <p:pic>
        <p:nvPicPr>
          <p:cNvPr id="13" name="Picture 12">
            <a:extLst>
              <a:ext uri="{FF2B5EF4-FFF2-40B4-BE49-F238E27FC236}">
                <a16:creationId xmlns:a16="http://schemas.microsoft.com/office/drawing/2014/main" id="{81886199-E688-A672-3866-B3F6D226AFFA}"/>
              </a:ext>
            </a:extLst>
          </p:cNvPr>
          <p:cNvPicPr>
            <a:picLocks noChangeAspect="1"/>
          </p:cNvPicPr>
          <p:nvPr/>
        </p:nvPicPr>
        <p:blipFill>
          <a:blip r:embed="rId3"/>
          <a:stretch>
            <a:fillRect/>
          </a:stretch>
        </p:blipFill>
        <p:spPr>
          <a:xfrm>
            <a:off x="849488" y="4254625"/>
            <a:ext cx="4505954" cy="1381318"/>
          </a:xfrm>
          <a:prstGeom prst="rect">
            <a:avLst/>
          </a:prstGeom>
        </p:spPr>
      </p:pic>
      <p:sp>
        <p:nvSpPr>
          <p:cNvPr id="15" name="TextBox 14">
            <a:extLst>
              <a:ext uri="{FF2B5EF4-FFF2-40B4-BE49-F238E27FC236}">
                <a16:creationId xmlns:a16="http://schemas.microsoft.com/office/drawing/2014/main" id="{ED3D5C9E-1FAC-3CD3-3806-A33F43BC1EF9}"/>
              </a:ext>
            </a:extLst>
          </p:cNvPr>
          <p:cNvSpPr txBox="1"/>
          <p:nvPr/>
        </p:nvSpPr>
        <p:spPr>
          <a:xfrm>
            <a:off x="1905966" y="3399375"/>
            <a:ext cx="1763210" cy="584775"/>
          </a:xfrm>
          <a:prstGeom prst="rect">
            <a:avLst/>
          </a:prstGeom>
          <a:noFill/>
        </p:spPr>
        <p:txBody>
          <a:bodyPr wrap="square">
            <a:spAutoFit/>
          </a:bodyPr>
          <a:lstStyle/>
          <a:p>
            <a:pPr algn="just"/>
            <a:r>
              <a:rPr lang="en-US" sz="3200" b="1" dirty="0"/>
              <a:t>Copies</a:t>
            </a:r>
            <a:endParaRPr lang="en-IN" sz="3200" dirty="0"/>
          </a:p>
        </p:txBody>
      </p:sp>
      <p:pic>
        <p:nvPicPr>
          <p:cNvPr id="17" name="Picture 16">
            <a:extLst>
              <a:ext uri="{FF2B5EF4-FFF2-40B4-BE49-F238E27FC236}">
                <a16:creationId xmlns:a16="http://schemas.microsoft.com/office/drawing/2014/main" id="{D9D4DE3B-ADD9-E920-C11C-5505D4BD4844}"/>
              </a:ext>
            </a:extLst>
          </p:cNvPr>
          <p:cNvPicPr>
            <a:picLocks noChangeAspect="1"/>
          </p:cNvPicPr>
          <p:nvPr/>
        </p:nvPicPr>
        <p:blipFill>
          <a:blip r:embed="rId4"/>
          <a:stretch>
            <a:fillRect/>
          </a:stretch>
        </p:blipFill>
        <p:spPr>
          <a:xfrm>
            <a:off x="6556262" y="4102419"/>
            <a:ext cx="4496427" cy="1409897"/>
          </a:xfrm>
          <a:prstGeom prst="rect">
            <a:avLst/>
          </a:prstGeom>
        </p:spPr>
      </p:pic>
      <p:sp>
        <p:nvSpPr>
          <p:cNvPr id="19" name="TextBox 18">
            <a:extLst>
              <a:ext uri="{FF2B5EF4-FFF2-40B4-BE49-F238E27FC236}">
                <a16:creationId xmlns:a16="http://schemas.microsoft.com/office/drawing/2014/main" id="{CD6FE539-6AE4-C41E-1BC5-A3B586668064}"/>
              </a:ext>
            </a:extLst>
          </p:cNvPr>
          <p:cNvSpPr txBox="1"/>
          <p:nvPr/>
        </p:nvSpPr>
        <p:spPr>
          <a:xfrm>
            <a:off x="7607462" y="3399374"/>
            <a:ext cx="2073002" cy="584775"/>
          </a:xfrm>
          <a:prstGeom prst="rect">
            <a:avLst/>
          </a:prstGeom>
          <a:noFill/>
        </p:spPr>
        <p:txBody>
          <a:bodyPr wrap="square">
            <a:spAutoFit/>
          </a:bodyPr>
          <a:lstStyle/>
          <a:p>
            <a:pPr algn="just"/>
            <a:r>
              <a:rPr lang="en-US" sz="3200" b="1" dirty="0"/>
              <a:t>Borrower</a:t>
            </a:r>
            <a:endParaRPr lang="en-IN" sz="3200" dirty="0"/>
          </a:p>
        </p:txBody>
      </p:sp>
      <p:pic>
        <p:nvPicPr>
          <p:cNvPr id="4" name="Picture 3">
            <a:extLst>
              <a:ext uri="{FF2B5EF4-FFF2-40B4-BE49-F238E27FC236}">
                <a16:creationId xmlns:a16="http://schemas.microsoft.com/office/drawing/2014/main" id="{A759BA62-608C-C795-BD02-B8DC68F03443}"/>
              </a:ext>
            </a:extLst>
          </p:cNvPr>
          <p:cNvPicPr>
            <a:picLocks noChangeAspect="1"/>
          </p:cNvPicPr>
          <p:nvPr/>
        </p:nvPicPr>
        <p:blipFill>
          <a:blip r:embed="rId5"/>
          <a:stretch>
            <a:fillRect/>
          </a:stretch>
        </p:blipFill>
        <p:spPr>
          <a:xfrm>
            <a:off x="1010720" y="1399260"/>
            <a:ext cx="4467849" cy="1381318"/>
          </a:xfrm>
          <a:prstGeom prst="rect">
            <a:avLst/>
          </a:prstGeom>
        </p:spPr>
      </p:pic>
    </p:spTree>
    <p:extLst>
      <p:ext uri="{BB962C8B-B14F-4D97-AF65-F5344CB8AC3E}">
        <p14:creationId xmlns:p14="http://schemas.microsoft.com/office/powerpoint/2010/main" val="3209766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8E3916-3837-9000-6C83-E8DC69D1E750}"/>
              </a:ext>
            </a:extLst>
          </p:cNvPr>
          <p:cNvPicPr>
            <a:picLocks noChangeAspect="1"/>
          </p:cNvPicPr>
          <p:nvPr/>
        </p:nvPicPr>
        <p:blipFill>
          <a:blip r:embed="rId2"/>
          <a:stretch>
            <a:fillRect/>
          </a:stretch>
        </p:blipFill>
        <p:spPr>
          <a:xfrm>
            <a:off x="878523" y="1780308"/>
            <a:ext cx="4439270" cy="1190791"/>
          </a:xfrm>
          <a:prstGeom prst="rect">
            <a:avLst/>
          </a:prstGeom>
        </p:spPr>
      </p:pic>
      <p:sp>
        <p:nvSpPr>
          <p:cNvPr id="7" name="TextBox 6">
            <a:extLst>
              <a:ext uri="{FF2B5EF4-FFF2-40B4-BE49-F238E27FC236}">
                <a16:creationId xmlns:a16="http://schemas.microsoft.com/office/drawing/2014/main" id="{9ABEE1A1-D727-8ADA-368D-1809EA4EB9DA}"/>
              </a:ext>
            </a:extLst>
          </p:cNvPr>
          <p:cNvSpPr txBox="1"/>
          <p:nvPr/>
        </p:nvSpPr>
        <p:spPr>
          <a:xfrm>
            <a:off x="2240373" y="905195"/>
            <a:ext cx="1243607" cy="584775"/>
          </a:xfrm>
          <a:prstGeom prst="rect">
            <a:avLst/>
          </a:prstGeom>
          <a:noFill/>
        </p:spPr>
        <p:txBody>
          <a:bodyPr wrap="square">
            <a:spAutoFit/>
          </a:bodyPr>
          <a:lstStyle/>
          <a:p>
            <a:r>
              <a:rPr lang="en-US" sz="3200" b="1" dirty="0"/>
              <a:t>Book</a:t>
            </a:r>
            <a:endParaRPr lang="en-IN" sz="3200" b="1" dirty="0"/>
          </a:p>
        </p:txBody>
      </p:sp>
      <p:pic>
        <p:nvPicPr>
          <p:cNvPr id="9" name="Picture 8">
            <a:extLst>
              <a:ext uri="{FF2B5EF4-FFF2-40B4-BE49-F238E27FC236}">
                <a16:creationId xmlns:a16="http://schemas.microsoft.com/office/drawing/2014/main" id="{EC975043-38F9-879A-628C-3431180FAD7B}"/>
              </a:ext>
            </a:extLst>
          </p:cNvPr>
          <p:cNvPicPr>
            <a:picLocks noChangeAspect="1"/>
          </p:cNvPicPr>
          <p:nvPr/>
        </p:nvPicPr>
        <p:blipFill>
          <a:blip r:embed="rId3"/>
          <a:stretch>
            <a:fillRect/>
          </a:stretch>
        </p:blipFill>
        <p:spPr>
          <a:xfrm>
            <a:off x="6229554" y="1713754"/>
            <a:ext cx="4848902" cy="1371791"/>
          </a:xfrm>
          <a:prstGeom prst="rect">
            <a:avLst/>
          </a:prstGeom>
        </p:spPr>
      </p:pic>
      <p:sp>
        <p:nvSpPr>
          <p:cNvPr id="11" name="TextBox 10">
            <a:extLst>
              <a:ext uri="{FF2B5EF4-FFF2-40B4-BE49-F238E27FC236}">
                <a16:creationId xmlns:a16="http://schemas.microsoft.com/office/drawing/2014/main" id="{63A7B0E5-DF07-515D-132F-01F0445434B9}"/>
              </a:ext>
            </a:extLst>
          </p:cNvPr>
          <p:cNvSpPr txBox="1"/>
          <p:nvPr/>
        </p:nvSpPr>
        <p:spPr>
          <a:xfrm>
            <a:off x="7966277" y="905194"/>
            <a:ext cx="1687010" cy="584775"/>
          </a:xfrm>
          <a:prstGeom prst="rect">
            <a:avLst/>
          </a:prstGeom>
          <a:noFill/>
        </p:spPr>
        <p:txBody>
          <a:bodyPr wrap="square">
            <a:spAutoFit/>
          </a:bodyPr>
          <a:lstStyle/>
          <a:p>
            <a:r>
              <a:rPr lang="en-US" sz="3200" b="1" dirty="0"/>
              <a:t>Branch</a:t>
            </a:r>
            <a:endParaRPr lang="en-IN" sz="3200" dirty="0"/>
          </a:p>
        </p:txBody>
      </p:sp>
      <p:pic>
        <p:nvPicPr>
          <p:cNvPr id="13" name="Picture 12">
            <a:extLst>
              <a:ext uri="{FF2B5EF4-FFF2-40B4-BE49-F238E27FC236}">
                <a16:creationId xmlns:a16="http://schemas.microsoft.com/office/drawing/2014/main" id="{887FE527-7C1A-3683-061A-FA7DF34EB081}"/>
              </a:ext>
            </a:extLst>
          </p:cNvPr>
          <p:cNvPicPr>
            <a:picLocks noChangeAspect="1"/>
          </p:cNvPicPr>
          <p:nvPr/>
        </p:nvPicPr>
        <p:blipFill>
          <a:blip r:embed="rId4"/>
          <a:stretch>
            <a:fillRect/>
          </a:stretch>
        </p:blipFill>
        <p:spPr>
          <a:xfrm>
            <a:off x="3649683" y="4339271"/>
            <a:ext cx="4591691" cy="1609950"/>
          </a:xfrm>
          <a:prstGeom prst="rect">
            <a:avLst/>
          </a:prstGeom>
        </p:spPr>
      </p:pic>
      <p:sp>
        <p:nvSpPr>
          <p:cNvPr id="15" name="TextBox 14">
            <a:extLst>
              <a:ext uri="{FF2B5EF4-FFF2-40B4-BE49-F238E27FC236}">
                <a16:creationId xmlns:a16="http://schemas.microsoft.com/office/drawing/2014/main" id="{17919463-1897-5A71-C505-877FF3401407}"/>
              </a:ext>
            </a:extLst>
          </p:cNvPr>
          <p:cNvSpPr txBox="1"/>
          <p:nvPr/>
        </p:nvSpPr>
        <p:spPr>
          <a:xfrm>
            <a:off x="4262377" y="3480068"/>
            <a:ext cx="6094070" cy="584775"/>
          </a:xfrm>
          <a:prstGeom prst="rect">
            <a:avLst/>
          </a:prstGeom>
          <a:noFill/>
        </p:spPr>
        <p:txBody>
          <a:bodyPr wrap="square">
            <a:spAutoFit/>
          </a:bodyPr>
          <a:lstStyle/>
          <a:p>
            <a:r>
              <a:rPr lang="en-US" sz="3200" b="1" dirty="0"/>
              <a:t>Book Loans</a:t>
            </a:r>
            <a:endParaRPr lang="en-IN" sz="3200" dirty="0"/>
          </a:p>
        </p:txBody>
      </p:sp>
    </p:spTree>
    <p:extLst>
      <p:ext uri="{BB962C8B-B14F-4D97-AF65-F5344CB8AC3E}">
        <p14:creationId xmlns:p14="http://schemas.microsoft.com/office/powerpoint/2010/main" val="724665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4E75F7-6F8B-F98D-1F5C-F45B1AF22E3B}"/>
              </a:ext>
            </a:extLst>
          </p:cNvPr>
          <p:cNvPicPr>
            <a:picLocks noChangeAspect="1"/>
          </p:cNvPicPr>
          <p:nvPr/>
        </p:nvPicPr>
        <p:blipFill>
          <a:blip r:embed="rId2"/>
          <a:stretch>
            <a:fillRect/>
          </a:stretch>
        </p:blipFill>
        <p:spPr>
          <a:xfrm>
            <a:off x="1238491" y="752355"/>
            <a:ext cx="9641711" cy="5199084"/>
          </a:xfrm>
          <a:prstGeom prst="rect">
            <a:avLst/>
          </a:prstGeom>
        </p:spPr>
      </p:pic>
      <p:sp>
        <p:nvSpPr>
          <p:cNvPr id="4" name="TextBox 3">
            <a:extLst>
              <a:ext uri="{FF2B5EF4-FFF2-40B4-BE49-F238E27FC236}">
                <a16:creationId xmlns:a16="http://schemas.microsoft.com/office/drawing/2014/main" id="{ECEBAC6E-E994-31BC-AB28-6AA39997EE13}"/>
              </a:ext>
            </a:extLst>
          </p:cNvPr>
          <p:cNvSpPr txBox="1"/>
          <p:nvPr/>
        </p:nvSpPr>
        <p:spPr>
          <a:xfrm>
            <a:off x="4743347" y="167580"/>
            <a:ext cx="2494345" cy="584775"/>
          </a:xfrm>
          <a:prstGeom prst="rect">
            <a:avLst/>
          </a:prstGeom>
          <a:noFill/>
        </p:spPr>
        <p:txBody>
          <a:bodyPr wrap="square" rtlCol="0">
            <a:spAutoFit/>
          </a:bodyPr>
          <a:lstStyle/>
          <a:p>
            <a:pPr algn="just"/>
            <a:r>
              <a:rPr lang="en-US" sz="3200" b="1" dirty="0">
                <a:solidFill>
                  <a:srgbClr val="FF0000"/>
                </a:solidFill>
              </a:rPr>
              <a:t>ER Diagram</a:t>
            </a:r>
            <a:endParaRPr lang="en-IN" sz="3200" b="1" dirty="0">
              <a:solidFill>
                <a:srgbClr val="FF0000"/>
              </a:solidFill>
            </a:endParaRPr>
          </a:p>
        </p:txBody>
      </p:sp>
    </p:spTree>
    <p:extLst>
      <p:ext uri="{BB962C8B-B14F-4D97-AF65-F5344CB8AC3E}">
        <p14:creationId xmlns:p14="http://schemas.microsoft.com/office/powerpoint/2010/main" val="856030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E2716C-10E4-C36A-A5CC-7715B3B44FD6}"/>
              </a:ext>
            </a:extLst>
          </p:cNvPr>
          <p:cNvPicPr>
            <a:picLocks noChangeAspect="1"/>
          </p:cNvPicPr>
          <p:nvPr/>
        </p:nvPicPr>
        <p:blipFill>
          <a:blip r:embed="rId2"/>
          <a:stretch>
            <a:fillRect/>
          </a:stretch>
        </p:blipFill>
        <p:spPr>
          <a:xfrm>
            <a:off x="763929" y="1515756"/>
            <a:ext cx="9479665" cy="2754774"/>
          </a:xfrm>
          <a:prstGeom prst="rect">
            <a:avLst/>
          </a:prstGeom>
        </p:spPr>
      </p:pic>
      <p:pic>
        <p:nvPicPr>
          <p:cNvPr id="5" name="Picture 4">
            <a:extLst>
              <a:ext uri="{FF2B5EF4-FFF2-40B4-BE49-F238E27FC236}">
                <a16:creationId xmlns:a16="http://schemas.microsoft.com/office/drawing/2014/main" id="{7F9CDCCB-4C44-2257-35F4-87026758CFDB}"/>
              </a:ext>
            </a:extLst>
          </p:cNvPr>
          <p:cNvPicPr>
            <a:picLocks noChangeAspect="1"/>
          </p:cNvPicPr>
          <p:nvPr/>
        </p:nvPicPr>
        <p:blipFill>
          <a:blip r:embed="rId3"/>
          <a:stretch>
            <a:fillRect/>
          </a:stretch>
        </p:blipFill>
        <p:spPr>
          <a:xfrm>
            <a:off x="763929" y="4795155"/>
            <a:ext cx="5361516" cy="1133633"/>
          </a:xfrm>
          <a:prstGeom prst="rect">
            <a:avLst/>
          </a:prstGeom>
        </p:spPr>
      </p:pic>
      <p:sp>
        <p:nvSpPr>
          <p:cNvPr id="6" name="TextBox 5">
            <a:extLst>
              <a:ext uri="{FF2B5EF4-FFF2-40B4-BE49-F238E27FC236}">
                <a16:creationId xmlns:a16="http://schemas.microsoft.com/office/drawing/2014/main" id="{A678EB31-4EEE-59A0-D99A-BDA46259DD23}"/>
              </a:ext>
            </a:extLst>
          </p:cNvPr>
          <p:cNvSpPr txBox="1"/>
          <p:nvPr/>
        </p:nvSpPr>
        <p:spPr>
          <a:xfrm>
            <a:off x="763929" y="592426"/>
            <a:ext cx="10776030" cy="923330"/>
          </a:xfrm>
          <a:prstGeom prst="rect">
            <a:avLst/>
          </a:prstGeom>
          <a:noFill/>
        </p:spPr>
        <p:txBody>
          <a:bodyPr wrap="square" rtlCol="0">
            <a:spAutoFit/>
          </a:bodyPr>
          <a:lstStyle/>
          <a:p>
            <a:r>
              <a:rPr lang="en-US" sz="2000" b="1" dirty="0"/>
              <a:t>1.How many copies of the book titled "The Lost Tribe" are owned by the library branch whose name is "Sharpstown"?</a:t>
            </a:r>
          </a:p>
          <a:p>
            <a:endParaRPr lang="en-IN" dirty="0"/>
          </a:p>
        </p:txBody>
      </p:sp>
    </p:spTree>
    <p:extLst>
      <p:ext uri="{BB962C8B-B14F-4D97-AF65-F5344CB8AC3E}">
        <p14:creationId xmlns:p14="http://schemas.microsoft.com/office/powerpoint/2010/main" val="677134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445A91-B501-3810-5932-2AABA82A0641}"/>
              </a:ext>
            </a:extLst>
          </p:cNvPr>
          <p:cNvSpPr txBox="1"/>
          <p:nvPr/>
        </p:nvSpPr>
        <p:spPr>
          <a:xfrm>
            <a:off x="894626" y="415508"/>
            <a:ext cx="10402747" cy="707886"/>
          </a:xfrm>
          <a:prstGeom prst="rect">
            <a:avLst/>
          </a:prstGeom>
          <a:noFill/>
        </p:spPr>
        <p:txBody>
          <a:bodyPr wrap="square">
            <a:spAutoFit/>
          </a:bodyPr>
          <a:lstStyle/>
          <a:p>
            <a:r>
              <a:rPr lang="en-US" sz="2000" b="1" dirty="0"/>
              <a:t>2.How many copies of the book titled "The Lost Tribe" are owned by each library branch?</a:t>
            </a:r>
          </a:p>
        </p:txBody>
      </p:sp>
      <p:pic>
        <p:nvPicPr>
          <p:cNvPr id="5" name="Picture 4">
            <a:extLst>
              <a:ext uri="{FF2B5EF4-FFF2-40B4-BE49-F238E27FC236}">
                <a16:creationId xmlns:a16="http://schemas.microsoft.com/office/drawing/2014/main" id="{D8957939-4F47-FFE5-7DA0-18132D217218}"/>
              </a:ext>
            </a:extLst>
          </p:cNvPr>
          <p:cNvPicPr>
            <a:picLocks noChangeAspect="1"/>
          </p:cNvPicPr>
          <p:nvPr/>
        </p:nvPicPr>
        <p:blipFill>
          <a:blip r:embed="rId2"/>
          <a:stretch>
            <a:fillRect/>
          </a:stretch>
        </p:blipFill>
        <p:spPr>
          <a:xfrm>
            <a:off x="708204" y="1658563"/>
            <a:ext cx="8644140" cy="2786115"/>
          </a:xfrm>
          <a:prstGeom prst="rect">
            <a:avLst/>
          </a:prstGeom>
        </p:spPr>
      </p:pic>
      <p:pic>
        <p:nvPicPr>
          <p:cNvPr id="7" name="Picture 6">
            <a:extLst>
              <a:ext uri="{FF2B5EF4-FFF2-40B4-BE49-F238E27FC236}">
                <a16:creationId xmlns:a16="http://schemas.microsoft.com/office/drawing/2014/main" id="{3734C9B8-1C2F-BF3E-7767-3B89BEA53FBB}"/>
              </a:ext>
            </a:extLst>
          </p:cNvPr>
          <p:cNvPicPr>
            <a:picLocks noChangeAspect="1"/>
          </p:cNvPicPr>
          <p:nvPr/>
        </p:nvPicPr>
        <p:blipFill>
          <a:blip r:embed="rId3"/>
          <a:stretch>
            <a:fillRect/>
          </a:stretch>
        </p:blipFill>
        <p:spPr>
          <a:xfrm>
            <a:off x="894626" y="4616919"/>
            <a:ext cx="4744112" cy="1629002"/>
          </a:xfrm>
          <a:prstGeom prst="rect">
            <a:avLst/>
          </a:prstGeom>
        </p:spPr>
      </p:pic>
    </p:spTree>
    <p:extLst>
      <p:ext uri="{BB962C8B-B14F-4D97-AF65-F5344CB8AC3E}">
        <p14:creationId xmlns:p14="http://schemas.microsoft.com/office/powerpoint/2010/main" val="391021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E55432-37FE-3AB4-41F4-352F6FF7F980}"/>
              </a:ext>
            </a:extLst>
          </p:cNvPr>
          <p:cNvPicPr>
            <a:picLocks noChangeAspect="1"/>
          </p:cNvPicPr>
          <p:nvPr/>
        </p:nvPicPr>
        <p:blipFill>
          <a:blip r:embed="rId2"/>
          <a:stretch>
            <a:fillRect/>
          </a:stretch>
        </p:blipFill>
        <p:spPr>
          <a:xfrm>
            <a:off x="591921" y="1192192"/>
            <a:ext cx="5792008" cy="2152892"/>
          </a:xfrm>
          <a:prstGeom prst="rect">
            <a:avLst/>
          </a:prstGeom>
        </p:spPr>
      </p:pic>
      <p:pic>
        <p:nvPicPr>
          <p:cNvPr id="5" name="Picture 4">
            <a:extLst>
              <a:ext uri="{FF2B5EF4-FFF2-40B4-BE49-F238E27FC236}">
                <a16:creationId xmlns:a16="http://schemas.microsoft.com/office/drawing/2014/main" id="{69942388-DE43-9D66-4A45-6679895C7D6E}"/>
              </a:ext>
            </a:extLst>
          </p:cNvPr>
          <p:cNvPicPr>
            <a:picLocks noChangeAspect="1"/>
          </p:cNvPicPr>
          <p:nvPr/>
        </p:nvPicPr>
        <p:blipFill>
          <a:blip r:embed="rId3"/>
          <a:stretch>
            <a:fillRect/>
          </a:stretch>
        </p:blipFill>
        <p:spPr>
          <a:xfrm>
            <a:off x="2038757" y="4054034"/>
            <a:ext cx="4867954" cy="1124107"/>
          </a:xfrm>
          <a:prstGeom prst="rect">
            <a:avLst/>
          </a:prstGeom>
        </p:spPr>
      </p:pic>
      <p:sp>
        <p:nvSpPr>
          <p:cNvPr id="7" name="TextBox 6">
            <a:extLst>
              <a:ext uri="{FF2B5EF4-FFF2-40B4-BE49-F238E27FC236}">
                <a16:creationId xmlns:a16="http://schemas.microsoft.com/office/drawing/2014/main" id="{AEB33B9A-360B-91E2-1D42-F38FE071457E}"/>
              </a:ext>
            </a:extLst>
          </p:cNvPr>
          <p:cNvSpPr txBox="1"/>
          <p:nvPr/>
        </p:nvSpPr>
        <p:spPr>
          <a:xfrm>
            <a:off x="687730" y="431155"/>
            <a:ext cx="9775784" cy="400110"/>
          </a:xfrm>
          <a:prstGeom prst="rect">
            <a:avLst/>
          </a:prstGeom>
          <a:noFill/>
        </p:spPr>
        <p:txBody>
          <a:bodyPr wrap="square">
            <a:spAutoFit/>
          </a:bodyPr>
          <a:lstStyle/>
          <a:p>
            <a:r>
              <a:rPr lang="en-US" sz="2000" b="1" dirty="0">
                <a:latin typeface="Arial" panose="020B0604020202020204" pitchFamily="34" charset="0"/>
              </a:rPr>
              <a:t>3.Retrieve the names of all borrowers who do not have any books checked out</a:t>
            </a:r>
            <a:endParaRPr lang="en-IN" sz="2000" b="1" dirty="0"/>
          </a:p>
        </p:txBody>
      </p:sp>
    </p:spTree>
    <p:extLst>
      <p:ext uri="{BB962C8B-B14F-4D97-AF65-F5344CB8AC3E}">
        <p14:creationId xmlns:p14="http://schemas.microsoft.com/office/powerpoint/2010/main" val="1677651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9EF980-36D3-0DBC-BDB8-02E8A9F5CA0A}"/>
              </a:ext>
            </a:extLst>
          </p:cNvPr>
          <p:cNvPicPr>
            <a:picLocks noChangeAspect="1"/>
          </p:cNvPicPr>
          <p:nvPr/>
        </p:nvPicPr>
        <p:blipFill>
          <a:blip r:embed="rId2"/>
          <a:stretch>
            <a:fillRect/>
          </a:stretch>
        </p:blipFill>
        <p:spPr>
          <a:xfrm>
            <a:off x="562595" y="1552797"/>
            <a:ext cx="9229587" cy="2949755"/>
          </a:xfrm>
          <a:prstGeom prst="rect">
            <a:avLst/>
          </a:prstGeom>
        </p:spPr>
      </p:pic>
      <p:pic>
        <p:nvPicPr>
          <p:cNvPr id="5" name="Picture 4">
            <a:extLst>
              <a:ext uri="{FF2B5EF4-FFF2-40B4-BE49-F238E27FC236}">
                <a16:creationId xmlns:a16="http://schemas.microsoft.com/office/drawing/2014/main" id="{86344D37-C047-7DF5-8374-7E3D85B2521E}"/>
              </a:ext>
            </a:extLst>
          </p:cNvPr>
          <p:cNvPicPr>
            <a:picLocks noChangeAspect="1"/>
          </p:cNvPicPr>
          <p:nvPr/>
        </p:nvPicPr>
        <p:blipFill>
          <a:blip r:embed="rId3"/>
          <a:stretch>
            <a:fillRect/>
          </a:stretch>
        </p:blipFill>
        <p:spPr>
          <a:xfrm>
            <a:off x="562595" y="4777354"/>
            <a:ext cx="5953956" cy="1657581"/>
          </a:xfrm>
          <a:prstGeom prst="rect">
            <a:avLst/>
          </a:prstGeom>
        </p:spPr>
      </p:pic>
      <p:sp>
        <p:nvSpPr>
          <p:cNvPr id="7" name="TextBox 6">
            <a:extLst>
              <a:ext uri="{FF2B5EF4-FFF2-40B4-BE49-F238E27FC236}">
                <a16:creationId xmlns:a16="http://schemas.microsoft.com/office/drawing/2014/main" id="{107C443B-2CBD-2AD5-23B9-A3CD37BC6192}"/>
              </a:ext>
            </a:extLst>
          </p:cNvPr>
          <p:cNvSpPr txBox="1"/>
          <p:nvPr/>
        </p:nvSpPr>
        <p:spPr>
          <a:xfrm>
            <a:off x="824696" y="261487"/>
            <a:ext cx="11664387" cy="707886"/>
          </a:xfrm>
          <a:prstGeom prst="rect">
            <a:avLst/>
          </a:prstGeom>
          <a:noFill/>
        </p:spPr>
        <p:txBody>
          <a:bodyPr wrap="square">
            <a:spAutoFit/>
          </a:bodyPr>
          <a:lstStyle/>
          <a:p>
            <a:r>
              <a:rPr lang="en-US" sz="2000" b="1" i="0" u="none" strike="noStrike" dirty="0">
                <a:solidFill>
                  <a:srgbClr val="000000"/>
                </a:solidFill>
                <a:effectLst/>
                <a:latin typeface="Arial" panose="020B0604020202020204" pitchFamily="34" charset="0"/>
              </a:rPr>
              <a:t>4.For each book that is loaned out from the "Sharpstown" branch and whose </a:t>
            </a:r>
            <a:r>
              <a:rPr lang="en-US" sz="2000" b="1" i="0" u="none" strike="noStrike" dirty="0" err="1">
                <a:solidFill>
                  <a:srgbClr val="000000"/>
                </a:solidFill>
                <a:effectLst/>
                <a:latin typeface="Arial" panose="020B0604020202020204" pitchFamily="34" charset="0"/>
              </a:rPr>
              <a:t>DueDate</a:t>
            </a:r>
            <a:r>
              <a:rPr lang="en-US" sz="2000" b="1" i="0" u="none" strike="noStrike" dirty="0">
                <a:solidFill>
                  <a:srgbClr val="000000"/>
                </a:solidFill>
                <a:effectLst/>
                <a:latin typeface="Arial" panose="020B0604020202020204" pitchFamily="34" charset="0"/>
              </a:rPr>
              <a:t> is 2/3/18, retrieve the book title, the borrower's name, and the borrower's address. </a:t>
            </a:r>
            <a:endParaRPr lang="en-IN" sz="2000" b="1" dirty="0"/>
          </a:p>
        </p:txBody>
      </p:sp>
    </p:spTree>
    <p:extLst>
      <p:ext uri="{BB962C8B-B14F-4D97-AF65-F5344CB8AC3E}">
        <p14:creationId xmlns:p14="http://schemas.microsoft.com/office/powerpoint/2010/main" val="3700853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F05E99-7F92-5817-76CF-8EB68C2145CB}"/>
              </a:ext>
            </a:extLst>
          </p:cNvPr>
          <p:cNvPicPr>
            <a:picLocks noChangeAspect="1"/>
          </p:cNvPicPr>
          <p:nvPr/>
        </p:nvPicPr>
        <p:blipFill>
          <a:blip r:embed="rId2"/>
          <a:stretch>
            <a:fillRect/>
          </a:stretch>
        </p:blipFill>
        <p:spPr>
          <a:xfrm>
            <a:off x="816914" y="1909630"/>
            <a:ext cx="8581729" cy="1759546"/>
          </a:xfrm>
          <a:prstGeom prst="rect">
            <a:avLst/>
          </a:prstGeom>
        </p:spPr>
      </p:pic>
      <p:pic>
        <p:nvPicPr>
          <p:cNvPr id="5" name="Picture 4">
            <a:extLst>
              <a:ext uri="{FF2B5EF4-FFF2-40B4-BE49-F238E27FC236}">
                <a16:creationId xmlns:a16="http://schemas.microsoft.com/office/drawing/2014/main" id="{AD8FEF9A-00DC-B5FB-79DB-597BF79A298A}"/>
              </a:ext>
            </a:extLst>
          </p:cNvPr>
          <p:cNvPicPr>
            <a:picLocks noChangeAspect="1"/>
          </p:cNvPicPr>
          <p:nvPr/>
        </p:nvPicPr>
        <p:blipFill>
          <a:blip r:embed="rId3"/>
          <a:stretch>
            <a:fillRect/>
          </a:stretch>
        </p:blipFill>
        <p:spPr>
          <a:xfrm>
            <a:off x="1082201" y="4437154"/>
            <a:ext cx="4772691" cy="1571844"/>
          </a:xfrm>
          <a:prstGeom prst="rect">
            <a:avLst/>
          </a:prstGeom>
        </p:spPr>
      </p:pic>
      <p:sp>
        <p:nvSpPr>
          <p:cNvPr id="7" name="TextBox 6">
            <a:extLst>
              <a:ext uri="{FF2B5EF4-FFF2-40B4-BE49-F238E27FC236}">
                <a16:creationId xmlns:a16="http://schemas.microsoft.com/office/drawing/2014/main" id="{6905AE54-F7F2-C16C-7206-97B9AC3CCF09}"/>
              </a:ext>
            </a:extLst>
          </p:cNvPr>
          <p:cNvSpPr txBox="1"/>
          <p:nvPr/>
        </p:nvSpPr>
        <p:spPr>
          <a:xfrm>
            <a:off x="674225" y="728024"/>
            <a:ext cx="10379597" cy="707886"/>
          </a:xfrm>
          <a:prstGeom prst="rect">
            <a:avLst/>
          </a:prstGeom>
          <a:noFill/>
        </p:spPr>
        <p:txBody>
          <a:bodyPr wrap="square">
            <a:spAutoFit/>
          </a:bodyPr>
          <a:lstStyle/>
          <a:p>
            <a:r>
              <a:rPr lang="en-US" sz="2000" b="1" i="0" u="none" strike="noStrike" dirty="0">
                <a:solidFill>
                  <a:srgbClr val="000000"/>
                </a:solidFill>
                <a:effectLst/>
                <a:latin typeface="Arial" panose="020B0604020202020204" pitchFamily="34" charset="0"/>
              </a:rPr>
              <a:t>5.For each library branch, retrieve the branch name and the total number of books loaned out from that branch</a:t>
            </a:r>
            <a:r>
              <a:rPr lang="en-US" sz="1400" b="0" i="0" u="none" strike="noStrike" dirty="0">
                <a:solidFill>
                  <a:srgbClr val="000000"/>
                </a:solidFill>
                <a:effectLst/>
                <a:latin typeface="Arial" panose="020B0604020202020204" pitchFamily="34" charset="0"/>
              </a:rPr>
              <a:t>.</a:t>
            </a:r>
            <a:endParaRPr lang="en-IN" dirty="0"/>
          </a:p>
        </p:txBody>
      </p:sp>
    </p:spTree>
    <p:extLst>
      <p:ext uri="{BB962C8B-B14F-4D97-AF65-F5344CB8AC3E}">
        <p14:creationId xmlns:p14="http://schemas.microsoft.com/office/powerpoint/2010/main" val="1395805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E4BCBD-9B5A-A888-A54F-015C062C973C}"/>
              </a:ext>
            </a:extLst>
          </p:cNvPr>
          <p:cNvPicPr>
            <a:picLocks noChangeAspect="1"/>
          </p:cNvPicPr>
          <p:nvPr/>
        </p:nvPicPr>
        <p:blipFill>
          <a:blip r:embed="rId2"/>
          <a:stretch>
            <a:fillRect/>
          </a:stretch>
        </p:blipFill>
        <p:spPr>
          <a:xfrm>
            <a:off x="595486" y="1809524"/>
            <a:ext cx="9612066" cy="2125868"/>
          </a:xfrm>
          <a:prstGeom prst="rect">
            <a:avLst/>
          </a:prstGeom>
        </p:spPr>
      </p:pic>
      <p:pic>
        <p:nvPicPr>
          <p:cNvPr id="5" name="Picture 4">
            <a:extLst>
              <a:ext uri="{FF2B5EF4-FFF2-40B4-BE49-F238E27FC236}">
                <a16:creationId xmlns:a16="http://schemas.microsoft.com/office/drawing/2014/main" id="{BBEF9CAF-33E5-E33C-D77B-BC7267BE599D}"/>
              </a:ext>
            </a:extLst>
          </p:cNvPr>
          <p:cNvPicPr>
            <a:picLocks noChangeAspect="1"/>
          </p:cNvPicPr>
          <p:nvPr/>
        </p:nvPicPr>
        <p:blipFill>
          <a:blip r:embed="rId3"/>
          <a:stretch>
            <a:fillRect/>
          </a:stretch>
        </p:blipFill>
        <p:spPr>
          <a:xfrm>
            <a:off x="1014948" y="4434390"/>
            <a:ext cx="5277587" cy="1438476"/>
          </a:xfrm>
          <a:prstGeom prst="rect">
            <a:avLst/>
          </a:prstGeom>
        </p:spPr>
      </p:pic>
      <p:sp>
        <p:nvSpPr>
          <p:cNvPr id="7" name="TextBox 6">
            <a:extLst>
              <a:ext uri="{FF2B5EF4-FFF2-40B4-BE49-F238E27FC236}">
                <a16:creationId xmlns:a16="http://schemas.microsoft.com/office/drawing/2014/main" id="{AFED14B0-C766-9BA5-DF3E-860F7472090E}"/>
              </a:ext>
            </a:extLst>
          </p:cNvPr>
          <p:cNvSpPr txBox="1"/>
          <p:nvPr/>
        </p:nvSpPr>
        <p:spPr>
          <a:xfrm>
            <a:off x="755249" y="788364"/>
            <a:ext cx="10483768" cy="707886"/>
          </a:xfrm>
          <a:prstGeom prst="rect">
            <a:avLst/>
          </a:prstGeom>
          <a:noFill/>
        </p:spPr>
        <p:txBody>
          <a:bodyPr wrap="square">
            <a:spAutoFit/>
          </a:bodyPr>
          <a:lstStyle/>
          <a:p>
            <a:r>
              <a:rPr lang="en-US" sz="2000" b="1" i="0" u="none" strike="noStrike" dirty="0">
                <a:solidFill>
                  <a:srgbClr val="000000"/>
                </a:solidFill>
                <a:effectLst/>
                <a:latin typeface="Arial" panose="020B0604020202020204" pitchFamily="34" charset="0"/>
              </a:rPr>
              <a:t>6.Retrieve the names, addresses, and number of books checked out for all borrowers who have more than five books checked out.</a:t>
            </a:r>
            <a:endParaRPr lang="en-IN" sz="2000" b="1" dirty="0"/>
          </a:p>
        </p:txBody>
      </p:sp>
    </p:spTree>
    <p:extLst>
      <p:ext uri="{BB962C8B-B14F-4D97-AF65-F5344CB8AC3E}">
        <p14:creationId xmlns:p14="http://schemas.microsoft.com/office/powerpoint/2010/main" val="3773110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7C0CB4-021C-6E6F-EBBF-1C944DC31F52}"/>
              </a:ext>
            </a:extLst>
          </p:cNvPr>
          <p:cNvPicPr>
            <a:picLocks noChangeAspect="1"/>
          </p:cNvPicPr>
          <p:nvPr/>
        </p:nvPicPr>
        <p:blipFill>
          <a:blip r:embed="rId2"/>
          <a:stretch>
            <a:fillRect/>
          </a:stretch>
        </p:blipFill>
        <p:spPr>
          <a:xfrm>
            <a:off x="604395" y="1807053"/>
            <a:ext cx="10414704" cy="2417706"/>
          </a:xfrm>
          <a:prstGeom prst="rect">
            <a:avLst/>
          </a:prstGeom>
        </p:spPr>
      </p:pic>
      <p:pic>
        <p:nvPicPr>
          <p:cNvPr id="5" name="Picture 4">
            <a:extLst>
              <a:ext uri="{FF2B5EF4-FFF2-40B4-BE49-F238E27FC236}">
                <a16:creationId xmlns:a16="http://schemas.microsoft.com/office/drawing/2014/main" id="{4A09F921-6AF3-C1BD-C875-2800E34069F6}"/>
              </a:ext>
            </a:extLst>
          </p:cNvPr>
          <p:cNvPicPr>
            <a:picLocks noChangeAspect="1"/>
          </p:cNvPicPr>
          <p:nvPr/>
        </p:nvPicPr>
        <p:blipFill>
          <a:blip r:embed="rId3"/>
          <a:stretch>
            <a:fillRect/>
          </a:stretch>
        </p:blipFill>
        <p:spPr>
          <a:xfrm>
            <a:off x="1029806" y="4819520"/>
            <a:ext cx="4877481" cy="1238423"/>
          </a:xfrm>
          <a:prstGeom prst="rect">
            <a:avLst/>
          </a:prstGeom>
        </p:spPr>
      </p:pic>
      <p:sp>
        <p:nvSpPr>
          <p:cNvPr id="7" name="TextBox 6">
            <a:extLst>
              <a:ext uri="{FF2B5EF4-FFF2-40B4-BE49-F238E27FC236}">
                <a16:creationId xmlns:a16="http://schemas.microsoft.com/office/drawing/2014/main" id="{AE34CDEC-9BB8-6451-7F9C-9F42A3F03948}"/>
              </a:ext>
            </a:extLst>
          </p:cNvPr>
          <p:cNvSpPr txBox="1"/>
          <p:nvPr/>
        </p:nvSpPr>
        <p:spPr>
          <a:xfrm>
            <a:off x="604395" y="502161"/>
            <a:ext cx="10331370" cy="707886"/>
          </a:xfrm>
          <a:prstGeom prst="rect">
            <a:avLst/>
          </a:prstGeom>
          <a:noFill/>
        </p:spPr>
        <p:txBody>
          <a:bodyPr wrap="square">
            <a:spAutoFit/>
          </a:bodyPr>
          <a:lstStyle/>
          <a:p>
            <a:r>
              <a:rPr lang="en-US" sz="2000" b="1" i="0" u="none" strike="noStrike" dirty="0">
                <a:solidFill>
                  <a:srgbClr val="000000"/>
                </a:solidFill>
                <a:effectLst/>
                <a:latin typeface="Arial" panose="020B0604020202020204" pitchFamily="34" charset="0"/>
              </a:rPr>
              <a:t>7.For each book authored by "Stephen King", retrieve the title and the number of copies owned by the library branch whose name is "Central".</a:t>
            </a:r>
            <a:endParaRPr lang="en-IN" sz="2000" b="1" dirty="0"/>
          </a:p>
        </p:txBody>
      </p:sp>
    </p:spTree>
    <p:extLst>
      <p:ext uri="{BB962C8B-B14F-4D97-AF65-F5344CB8AC3E}">
        <p14:creationId xmlns:p14="http://schemas.microsoft.com/office/powerpoint/2010/main" val="3634297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632CC83-7159-D147-ED18-54EFB12EBE8A}"/>
              </a:ext>
            </a:extLst>
          </p:cNvPr>
          <p:cNvSpPr txBox="1"/>
          <p:nvPr/>
        </p:nvSpPr>
        <p:spPr>
          <a:xfrm>
            <a:off x="993058" y="1768419"/>
            <a:ext cx="10038736" cy="3139321"/>
          </a:xfrm>
          <a:prstGeom prst="rect">
            <a:avLst/>
          </a:prstGeom>
          <a:noFill/>
        </p:spPr>
        <p:txBody>
          <a:bodyPr wrap="square">
            <a:spAutoFit/>
          </a:bodyPr>
          <a:lstStyle/>
          <a:p>
            <a:pPr>
              <a:buNone/>
            </a:pPr>
            <a:r>
              <a:rPr lang="en-US" sz="1800" dirty="0">
                <a:latin typeface="+mn-lt"/>
              </a:rPr>
              <a:t>This project helped us understand how to design a database and manage data effectively using SQL.</a:t>
            </a:r>
          </a:p>
          <a:p>
            <a:pPr>
              <a:buNone/>
            </a:pPr>
            <a:endParaRPr lang="en-US" sz="1800" dirty="0">
              <a:latin typeface="+mn-lt"/>
            </a:endParaRPr>
          </a:p>
          <a:p>
            <a:pPr>
              <a:buNone/>
            </a:pPr>
            <a:r>
              <a:rPr lang="en-US" sz="1800" dirty="0">
                <a:latin typeface="+mn-lt"/>
              </a:rPr>
              <a:t>We learned how to create tables and connect them using relationships like primary keys and foreign keys.</a:t>
            </a:r>
          </a:p>
          <a:p>
            <a:pPr>
              <a:buNone/>
            </a:pPr>
            <a:endParaRPr lang="en-US" sz="1800" dirty="0">
              <a:latin typeface="+mn-lt"/>
            </a:endParaRPr>
          </a:p>
          <a:p>
            <a:pPr>
              <a:buNone/>
            </a:pPr>
            <a:r>
              <a:rPr lang="en-US" sz="1800" dirty="0">
                <a:latin typeface="+mn-lt"/>
              </a:rPr>
              <a:t>We also gained experience in writing SQL queries to retrieve useful information from the database.</a:t>
            </a:r>
          </a:p>
          <a:p>
            <a:pPr>
              <a:buNone/>
            </a:pPr>
            <a:endParaRPr lang="en-US" sz="1800" dirty="0">
              <a:latin typeface="+mn-lt"/>
            </a:endParaRPr>
          </a:p>
          <a:p>
            <a:pPr>
              <a:buNone/>
            </a:pPr>
            <a:r>
              <a:rPr lang="en-US" sz="1800" dirty="0">
                <a:latin typeface="+mn-lt"/>
              </a:rPr>
              <a:t>Overall, this project improved our logical thinking and showed the importance of structured data in real-world applications.</a:t>
            </a:r>
          </a:p>
        </p:txBody>
      </p:sp>
      <p:sp>
        <p:nvSpPr>
          <p:cNvPr id="5" name="TextBox 4">
            <a:extLst>
              <a:ext uri="{FF2B5EF4-FFF2-40B4-BE49-F238E27FC236}">
                <a16:creationId xmlns:a16="http://schemas.microsoft.com/office/drawing/2014/main" id="{A73714E5-8F44-B1E7-343E-F30F87000568}"/>
              </a:ext>
            </a:extLst>
          </p:cNvPr>
          <p:cNvSpPr txBox="1"/>
          <p:nvPr/>
        </p:nvSpPr>
        <p:spPr>
          <a:xfrm>
            <a:off x="4827642" y="615616"/>
            <a:ext cx="2762864" cy="707886"/>
          </a:xfrm>
          <a:prstGeom prst="rect">
            <a:avLst/>
          </a:prstGeom>
          <a:noFill/>
        </p:spPr>
        <p:txBody>
          <a:bodyPr wrap="square">
            <a:spAutoFit/>
          </a:bodyPr>
          <a:lstStyle/>
          <a:p>
            <a:pPr algn="just">
              <a:buNone/>
            </a:pPr>
            <a:r>
              <a:rPr lang="en-US" b="1" dirty="0"/>
              <a:t> </a:t>
            </a:r>
            <a:r>
              <a:rPr lang="en-US" sz="4000" b="1" dirty="0">
                <a:solidFill>
                  <a:srgbClr val="FF0000"/>
                </a:solidFill>
              </a:rPr>
              <a:t>Insights</a:t>
            </a:r>
          </a:p>
        </p:txBody>
      </p:sp>
    </p:spTree>
    <p:extLst>
      <p:ext uri="{BB962C8B-B14F-4D97-AF65-F5344CB8AC3E}">
        <p14:creationId xmlns:p14="http://schemas.microsoft.com/office/powerpoint/2010/main" val="4118379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912F6D-B3FB-4359-9FE1-6649EA8E0755}"/>
              </a:ext>
            </a:extLst>
          </p:cNvPr>
          <p:cNvSpPr txBox="1"/>
          <p:nvPr/>
        </p:nvSpPr>
        <p:spPr>
          <a:xfrm>
            <a:off x="1170038" y="1641465"/>
            <a:ext cx="9704439" cy="2800767"/>
          </a:xfrm>
          <a:prstGeom prst="rect">
            <a:avLst/>
          </a:prstGeom>
          <a:noFill/>
        </p:spPr>
        <p:txBody>
          <a:bodyPr wrap="square">
            <a:spAutoFit/>
          </a:bodyPr>
          <a:lstStyle/>
          <a:p>
            <a:pPr>
              <a:buNone/>
            </a:pPr>
            <a:br>
              <a:rPr lang="en-US" dirty="0"/>
            </a:br>
            <a:r>
              <a:rPr lang="en-US" sz="1800" dirty="0">
                <a:latin typeface="+mn-lt"/>
              </a:rPr>
              <a:t>While working on this project, we faced some difficulties in designing tables and establishing proper relationships.</a:t>
            </a:r>
          </a:p>
          <a:p>
            <a:pPr>
              <a:buNone/>
            </a:pPr>
            <a:endParaRPr lang="en-US" sz="1800" dirty="0">
              <a:latin typeface="+mn-lt"/>
            </a:endParaRPr>
          </a:p>
          <a:p>
            <a:pPr>
              <a:buNone/>
            </a:pPr>
            <a:r>
              <a:rPr lang="en-US" sz="1800" dirty="0">
                <a:latin typeface="+mn-lt"/>
              </a:rPr>
              <a:t>Understanding primary keys and foreign keys was a bit confusing in the beginning.</a:t>
            </a:r>
          </a:p>
          <a:p>
            <a:pPr>
              <a:buNone/>
            </a:pPr>
            <a:endParaRPr lang="en-US" sz="1800" dirty="0">
              <a:latin typeface="+mn-lt"/>
            </a:endParaRPr>
          </a:p>
          <a:p>
            <a:pPr>
              <a:buNone/>
            </a:pPr>
            <a:r>
              <a:rPr lang="en-US" sz="1800" dirty="0">
                <a:latin typeface="+mn-lt"/>
              </a:rPr>
              <a:t>We also encountered errors while writing SQL queries and had to debug them carefully.</a:t>
            </a:r>
          </a:p>
          <a:p>
            <a:pPr>
              <a:buNone/>
            </a:pPr>
            <a:endParaRPr lang="en-US" sz="1800" dirty="0">
              <a:latin typeface="+mn-lt"/>
            </a:endParaRPr>
          </a:p>
          <a:p>
            <a:pPr>
              <a:buNone/>
            </a:pPr>
            <a:r>
              <a:rPr lang="en-US" sz="1800" dirty="0">
                <a:latin typeface="+mn-lt"/>
              </a:rPr>
              <a:t>However, by practicing and correcting mistakes, we were able to complete the project successfully.</a:t>
            </a:r>
          </a:p>
        </p:txBody>
      </p:sp>
      <p:sp>
        <p:nvSpPr>
          <p:cNvPr id="5" name="TextBox 4">
            <a:extLst>
              <a:ext uri="{FF2B5EF4-FFF2-40B4-BE49-F238E27FC236}">
                <a16:creationId xmlns:a16="http://schemas.microsoft.com/office/drawing/2014/main" id="{DD4881E1-AD61-58E5-ED17-611FF0F892E2}"/>
              </a:ext>
            </a:extLst>
          </p:cNvPr>
          <p:cNvSpPr txBox="1"/>
          <p:nvPr/>
        </p:nvSpPr>
        <p:spPr>
          <a:xfrm>
            <a:off x="4235116" y="463390"/>
            <a:ext cx="6096000" cy="923330"/>
          </a:xfrm>
          <a:prstGeom prst="rect">
            <a:avLst/>
          </a:prstGeom>
          <a:noFill/>
        </p:spPr>
        <p:txBody>
          <a:bodyPr wrap="square">
            <a:spAutoFit/>
          </a:bodyPr>
          <a:lstStyle/>
          <a:p>
            <a:pPr>
              <a:buNone/>
            </a:pPr>
            <a:endParaRPr lang="en-US" dirty="0"/>
          </a:p>
          <a:p>
            <a:pPr algn="just">
              <a:buNone/>
            </a:pPr>
            <a:r>
              <a:rPr lang="en-US" b="1" dirty="0"/>
              <a:t> </a:t>
            </a:r>
            <a:r>
              <a:rPr lang="en-US" sz="4000" b="1" dirty="0">
                <a:solidFill>
                  <a:srgbClr val="FF0000"/>
                </a:solidFill>
              </a:rPr>
              <a:t>Challenges</a:t>
            </a:r>
          </a:p>
        </p:txBody>
      </p:sp>
    </p:spTree>
    <p:extLst>
      <p:ext uri="{BB962C8B-B14F-4D97-AF65-F5344CB8AC3E}">
        <p14:creationId xmlns:p14="http://schemas.microsoft.com/office/powerpoint/2010/main" val="517044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87130" y="558135"/>
            <a:ext cx="10515600" cy="1325563"/>
          </a:xfrm>
          <a:prstGeom prst="rect">
            <a:avLst/>
          </a:prstGeom>
          <a:noFill/>
          <a:ln>
            <a:noFill/>
          </a:ln>
        </p:spPr>
        <p:txBody>
          <a:bodyPr spcFirstLastPara="1" wrap="square" lIns="91425" tIns="45700" rIns="91425" bIns="45700" anchor="ctr" anchorCtr="0">
            <a:normAutofit/>
          </a:bodyPr>
          <a:lstStyle/>
          <a:p>
            <a:pPr lvl="0" algn="ctr">
              <a:buClr>
                <a:srgbClr val="FF0000"/>
              </a:buClr>
              <a:buSzPts val="4400"/>
            </a:pPr>
            <a:r>
              <a:rPr lang="en-IN" b="1" dirty="0">
                <a:solidFill>
                  <a:srgbClr val="FF0000"/>
                </a:solidFill>
              </a:rPr>
              <a:t>CONCLUSION </a:t>
            </a:r>
            <a:endParaRPr b="1" dirty="0">
              <a:solidFill>
                <a:srgbClr val="FF0000"/>
              </a:solidFill>
            </a:endParaRPr>
          </a:p>
        </p:txBody>
      </p:sp>
      <p:sp>
        <p:nvSpPr>
          <p:cNvPr id="111" name="Google Shape;111;p4"/>
          <p:cNvSpPr txBox="1">
            <a:spLocks noGrp="1"/>
          </p:cNvSpPr>
          <p:nvPr>
            <p:ph type="body" idx="1"/>
          </p:nvPr>
        </p:nvSpPr>
        <p:spPr>
          <a:xfrm>
            <a:off x="724209" y="1807767"/>
            <a:ext cx="10515600" cy="4777234"/>
          </a:xfrm>
          <a:prstGeom prst="rect">
            <a:avLst/>
          </a:prstGeom>
          <a:noFill/>
          <a:ln>
            <a:noFill/>
          </a:ln>
        </p:spPr>
        <p:txBody>
          <a:bodyPr spcFirstLastPara="1" wrap="square" lIns="91425" tIns="45700" rIns="91425" bIns="45700" anchor="t" anchorCtr="0">
            <a:normAutofit/>
          </a:bodyPr>
          <a:lstStyle/>
          <a:p>
            <a:pPr algn="just"/>
            <a:r>
              <a:rPr lang="en-US" sz="1800" dirty="0">
                <a:latin typeface="+mn-lt"/>
              </a:rPr>
              <a:t>In this project, we successfully created a Library Database using SQL. We designed tables and connected them properly using keys.</a:t>
            </a:r>
          </a:p>
          <a:p>
            <a:pPr algn="just"/>
            <a:r>
              <a:rPr lang="en-US" sz="1800" dirty="0">
                <a:latin typeface="+mn-lt"/>
              </a:rPr>
              <a:t>We also used SQL queries to get useful information such as book details, borrower details, and loan records. This project helped us understand how to manage and analyze data in a structured way.</a:t>
            </a:r>
          </a:p>
          <a:p>
            <a:pPr algn="just"/>
            <a:r>
              <a:rPr lang="en-US" sz="1800" dirty="0">
                <a:latin typeface="+mn-lt"/>
              </a:rPr>
              <a:t>Overall, this system makes library management easier, faster, and more accurate compared to manual methods.</a:t>
            </a:r>
          </a:p>
          <a:p>
            <a:pPr marL="25400" lvl="0" indent="0" algn="just" rtl="0">
              <a:lnSpc>
                <a:spcPct val="90000"/>
              </a:lnSpc>
              <a:spcBef>
                <a:spcPts val="1000"/>
              </a:spcBef>
              <a:spcAft>
                <a:spcPts val="0"/>
              </a:spcAft>
              <a:buSzPts val="2400"/>
              <a:buNone/>
            </a:pP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136444" y="2222091"/>
            <a:ext cx="4133646" cy="188533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386</TotalTime>
  <Words>745</Words>
  <Application>Microsoft Office PowerPoint</Application>
  <PresentationFormat>Widescreen</PresentationFormat>
  <Paragraphs>66</Paragraphs>
  <Slides>18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Libre Baskerville</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Nag Lakshmi</cp:lastModifiedBy>
  <cp:revision>6</cp:revision>
  <dcterms:created xsi:type="dcterms:W3CDTF">2021-02-16T05:19:01Z</dcterms:created>
  <dcterms:modified xsi:type="dcterms:W3CDTF">2026-04-13T16:01:53Z</dcterms:modified>
</cp:coreProperties>
</file>